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57" r:id="rId5"/>
    <p:sldId id="258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E65FD9-18BD-819C-5478-5E518CC12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C34BAA-A507-821A-72BB-52B5A3A67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0A98C2A-77D3-BBF6-6379-1944AB742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5689-EC54-4444-ABF9-355E10FC51A4}" type="datetimeFigureOut">
              <a:rPr lang="pt-PT" smtClean="0"/>
              <a:t>20/10/2026</a:t>
            </a:fld>
            <a:endParaRPr lang="pt-PT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AF64DC0-7966-B4DA-22D2-78BF54C2D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95938E2-1024-44A0-0161-56F7C5152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36F30-7B5A-4476-A6D2-338876700F72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266972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C5591E-5998-289A-22FC-6D308C200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0CE8B48-BB7C-5739-E5A8-23D217B43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A1DF8AD-A130-6C39-3321-B27D29221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5689-EC54-4444-ABF9-355E10FC51A4}" type="datetimeFigureOut">
              <a:rPr lang="pt-PT" smtClean="0"/>
              <a:t>20/10/2026</a:t>
            </a:fld>
            <a:endParaRPr lang="pt-PT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D57D7C5-57E9-8C29-0C4B-2E331FB59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7C38C0A-9FE6-542D-4A28-4959239ED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36F30-7B5A-4476-A6D2-338876700F72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523950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CADCC-E80D-DC02-ADD7-7DE050BF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464E84F-939F-7E70-B38B-837456536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3430864-5096-880D-C276-1356BD638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5689-EC54-4444-ABF9-355E10FC51A4}" type="datetimeFigureOut">
              <a:rPr lang="pt-PT" smtClean="0"/>
              <a:t>20/10/2026</a:t>
            </a:fld>
            <a:endParaRPr lang="pt-PT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B295967-95A8-811B-A8F9-041E07456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4D3866D-2831-7888-C85A-19683C1F3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36F30-7B5A-4476-A6D2-338876700F72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96464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AB3F1A-E40F-9384-5395-84E26D096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E05CFCB-2347-CF6E-B7C8-7AE62D8558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86160948-0AC7-CDB4-530B-EC9C19E97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18DC0CD-792F-7969-7968-1CF84AFCA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5689-EC54-4444-ABF9-355E10FC51A4}" type="datetimeFigureOut">
              <a:rPr lang="pt-PT" smtClean="0"/>
              <a:t>20/10/2026</a:t>
            </a:fld>
            <a:endParaRPr lang="pt-PT" dirty="0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EA9F1A52-8677-9C09-9BB4-A6D2D2019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C857648-9A2C-EADD-E0CF-28F46E875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36F30-7B5A-4476-A6D2-338876700F72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65985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053039-696C-AE74-806C-046A65E7C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4F72EEC-707F-86B3-A469-79B4C1ADB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5803A09F-F646-3873-1514-E9D29DE3A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C7FE4343-5D29-05C3-4A57-F97FF101E4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E0563B79-FF0B-4920-12B1-6AFD1DC3F9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4927E06A-259D-2928-27D5-8CD3E33FD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5689-EC54-4444-ABF9-355E10FC51A4}" type="datetimeFigureOut">
              <a:rPr lang="pt-PT" smtClean="0"/>
              <a:t>20/10/2026</a:t>
            </a:fld>
            <a:endParaRPr lang="pt-PT" dirty="0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AFC546A5-FB67-151F-528A-34408D733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73680E73-A7A9-7A18-EA24-410244DB4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36F30-7B5A-4476-A6D2-338876700F72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55407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E4CD8-78B5-9CFF-5107-BC1D68A87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434894F7-E260-9C26-C92B-D727AEAF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5689-EC54-4444-ABF9-355E10FC51A4}" type="datetimeFigureOut">
              <a:rPr lang="pt-PT" smtClean="0"/>
              <a:t>20/10/2026</a:t>
            </a:fld>
            <a:endParaRPr lang="pt-PT" dirty="0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9041F04C-5A47-FE8D-7F4D-1BBE06599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590DD24-CE60-8445-E4DF-0D8B87DF3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36F30-7B5A-4476-A6D2-338876700F72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516382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74E97826-724C-78AA-0D0B-EF582A0AB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5689-EC54-4444-ABF9-355E10FC51A4}" type="datetimeFigureOut">
              <a:rPr lang="pt-PT" smtClean="0"/>
              <a:t>20/10/2026</a:t>
            </a:fld>
            <a:endParaRPr lang="pt-PT" dirty="0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EBC9537D-453E-F65D-9A4A-44BEC992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CBEED56-CC86-81AA-68FD-693ED3B5E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36F30-7B5A-4476-A6D2-338876700F72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38241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97C7D8-7587-EDD0-6AF2-CBBC9E3BB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3F0CA07-1439-D156-ECBC-1AA9ED851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D6BEF86C-B7B7-5721-BDE3-7357606D80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CD788AFB-91EC-D6F6-AC6B-1EF708B65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5689-EC54-4444-ABF9-355E10FC51A4}" type="datetimeFigureOut">
              <a:rPr lang="pt-PT" smtClean="0"/>
              <a:t>20/10/2026</a:t>
            </a:fld>
            <a:endParaRPr lang="pt-PT" dirty="0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C6F8789-BBC5-A44A-B4AC-303D7D9D1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24ECE262-D811-386B-6A4E-7F2F74AB6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36F30-7B5A-4476-A6D2-338876700F72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89963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C1CE4-2516-4F90-78D2-C69C9F96A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BDB31211-A595-2CAF-F2D4-2902D6DB5C7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 dirty="0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D4037157-EFF5-7A40-FF93-A4BACB1AB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FEBA2E8-249E-2BCF-A1E4-539F3775C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5689-EC54-4444-ABF9-355E10FC51A4}" type="datetimeFigureOut">
              <a:rPr lang="pt-PT" smtClean="0"/>
              <a:t>20/10/2026</a:t>
            </a:fld>
            <a:endParaRPr lang="pt-PT" dirty="0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A04BDD43-7550-1576-7693-8E765F3C9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667F78E2-B3D0-C589-6329-F372D91EB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36F30-7B5A-4476-A6D2-338876700F72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340121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CDA902-3004-0B00-0572-FC6B1693B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2E0AA761-6B6B-1FC2-28D2-785AD9BC31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433FEDC-BC4E-2067-39CB-9B8A03627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5689-EC54-4444-ABF9-355E10FC51A4}" type="datetimeFigureOut">
              <a:rPr lang="pt-PT" smtClean="0"/>
              <a:t>20/10/2026</a:t>
            </a:fld>
            <a:endParaRPr lang="pt-PT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D5DB40D-2BCF-4D9F-2103-A139747DB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CAA221B-8B9D-59EF-684D-802426FDC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36F30-7B5A-4476-A6D2-338876700F72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804406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AA22613-5E89-56CA-C447-5364435FC3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EC00B7C0-7585-D976-0985-9BBC6819F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4CD15AA-ACB2-E55E-1F8C-96DE4CC8B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5689-EC54-4444-ABF9-355E10FC51A4}" type="datetimeFigureOut">
              <a:rPr lang="pt-PT" smtClean="0"/>
              <a:t>20/10/2026</a:t>
            </a:fld>
            <a:endParaRPr lang="pt-PT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6D41440-92F6-AFD0-3FB3-444C7B2D5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B8C8ADB-F54E-EC38-7BD5-4FA738DF7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36F30-7B5A-4476-A6D2-338876700F72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80430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4DFA251B-C891-CC29-C888-2F3067C24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CD9D048-E72E-3F95-B963-01D347736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C892A5E-15BD-235D-67BA-68E3C41259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355689-EC54-4444-ABF9-355E10FC51A4}" type="datetimeFigureOut">
              <a:rPr lang="pt-PT" smtClean="0"/>
              <a:t>20/10/2026</a:t>
            </a:fld>
            <a:endParaRPr lang="pt-PT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7752E50-C565-3AF3-BDA6-2ABFABA5A4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146AA10-5368-EDF2-7444-294D0C2445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836F30-7B5A-4476-A6D2-338876700F72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24533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Agrupar 5">
            <a:extLst>
              <a:ext uri="{FF2B5EF4-FFF2-40B4-BE49-F238E27FC236}">
                <a16:creationId xmlns:a16="http://schemas.microsoft.com/office/drawing/2014/main" id="{B9CC892D-695B-4FD0-D282-9B1347AC272E}"/>
              </a:ext>
            </a:extLst>
          </p:cNvPr>
          <p:cNvGrpSpPr/>
          <p:nvPr/>
        </p:nvGrpSpPr>
        <p:grpSpPr>
          <a:xfrm>
            <a:off x="990600" y="2690336"/>
            <a:ext cx="10210800" cy="1477328"/>
            <a:chOff x="990600" y="2413337"/>
            <a:chExt cx="10210800" cy="1477328"/>
          </a:xfrm>
        </p:grpSpPr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804219EC-0BEA-4C6F-AEA3-31A9156205FF}"/>
                </a:ext>
              </a:extLst>
            </p:cNvPr>
            <p:cNvSpPr txBox="1"/>
            <p:nvPr/>
          </p:nvSpPr>
          <p:spPr>
            <a:xfrm>
              <a:off x="990600" y="2413337"/>
              <a:ext cx="102108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6000" dirty="0"/>
                <a:t>MySQL – Comandos e Sintaxe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9FB09B98-CCE5-9647-8046-549C5767089F}"/>
                </a:ext>
              </a:extLst>
            </p:cNvPr>
            <p:cNvSpPr txBox="1"/>
            <p:nvPr/>
          </p:nvSpPr>
          <p:spPr>
            <a:xfrm>
              <a:off x="990600" y="3429000"/>
              <a:ext cx="10210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400" dirty="0"/>
                <a:t>Feito por Afonso Almeida do 12ºK (2026/2027)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4828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5CC1E-DEE4-F057-B328-92695E6F7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CCF0DE8D-AD8B-7D53-FDE7-0EFE0EAA56E5}"/>
              </a:ext>
            </a:extLst>
          </p:cNvPr>
          <p:cNvGrpSpPr/>
          <p:nvPr/>
        </p:nvGrpSpPr>
        <p:grpSpPr>
          <a:xfrm>
            <a:off x="990600" y="174812"/>
            <a:ext cx="10210800" cy="1106054"/>
            <a:chOff x="990600" y="174812"/>
            <a:chExt cx="10210800" cy="1106054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CD788092-D1C3-E143-5085-C38650BC6D35}"/>
                </a:ext>
              </a:extLst>
            </p:cNvPr>
            <p:cNvSpPr txBox="1"/>
            <p:nvPr/>
          </p:nvSpPr>
          <p:spPr>
            <a:xfrm>
              <a:off x="990600" y="174812"/>
              <a:ext cx="10210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800" dirty="0"/>
                <a:t>Comandos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7AD00139-FEFB-63EC-E665-DA709046F56A}"/>
                </a:ext>
              </a:extLst>
            </p:cNvPr>
            <p:cNvSpPr txBox="1"/>
            <p:nvPr/>
          </p:nvSpPr>
          <p:spPr>
            <a:xfrm>
              <a:off x="4334435" y="757646"/>
              <a:ext cx="35231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800" dirty="0"/>
                <a:t>CREATE</a:t>
              </a:r>
            </a:p>
          </p:txBody>
        </p:sp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B0A9E892-0C7A-09BC-F4D7-89EFB529D008}"/>
              </a:ext>
            </a:extLst>
          </p:cNvPr>
          <p:cNvSpPr txBox="1"/>
          <p:nvPr/>
        </p:nvSpPr>
        <p:spPr>
          <a:xfrm>
            <a:off x="990600" y="1878320"/>
            <a:ext cx="415514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/>
              <a:t>O comando CREATE serve para criar estruturas como a BD e tabelas, a sintaxe para criar tabelas é diferente, pois é preciso declarar os atributos da tabela</a:t>
            </a:r>
          </a:p>
          <a:p>
            <a:endParaRPr lang="pt-PT" sz="2000" dirty="0"/>
          </a:p>
          <a:p>
            <a:r>
              <a:rPr lang="pt-PT" sz="2000" dirty="0"/>
              <a:t>Sintaxe:</a:t>
            </a:r>
          </a:p>
          <a:p>
            <a:r>
              <a:rPr lang="pt-PT" sz="2000" dirty="0"/>
              <a:t>CREATE DATABASE</a:t>
            </a:r>
            <a:r>
              <a:rPr lang="pt-PT" sz="2000" i="1" dirty="0"/>
              <a:t> NOME</a:t>
            </a:r>
            <a:r>
              <a:rPr lang="pt-PT" sz="2000" dirty="0"/>
              <a:t>;</a:t>
            </a:r>
            <a:endParaRPr lang="pt-PT" sz="2000" i="1" dirty="0"/>
          </a:p>
          <a:p>
            <a:endParaRPr lang="pt-PT" sz="2000" i="1" dirty="0"/>
          </a:p>
          <a:p>
            <a:r>
              <a:rPr lang="pt-PT" sz="2000" dirty="0"/>
              <a:t>Exemplo:</a:t>
            </a:r>
          </a:p>
          <a:p>
            <a:r>
              <a:rPr lang="pt-PT" sz="2000" dirty="0"/>
              <a:t>CREATE DATABASE Hospital;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3542DE0F-31B6-6835-E509-D03BD861A08D}"/>
              </a:ext>
            </a:extLst>
          </p:cNvPr>
          <p:cNvGrpSpPr/>
          <p:nvPr/>
        </p:nvGrpSpPr>
        <p:grpSpPr>
          <a:xfrm>
            <a:off x="6828090" y="1463589"/>
            <a:ext cx="4368823" cy="1965410"/>
            <a:chOff x="6828094" y="1463590"/>
            <a:chExt cx="4368823" cy="1965410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3B3427A8-F745-72B4-DF7A-FF0EF00EB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28094" y="1863700"/>
              <a:ext cx="4368823" cy="1565300"/>
            </a:xfrm>
            <a:prstGeom prst="rect">
              <a:avLst/>
            </a:prstGeom>
          </p:spPr>
        </p:pic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E47E1443-4AAD-36CA-CA4C-854047E907D1}"/>
                </a:ext>
              </a:extLst>
            </p:cNvPr>
            <p:cNvSpPr txBox="1"/>
            <p:nvPr/>
          </p:nvSpPr>
          <p:spPr>
            <a:xfrm>
              <a:off x="7250940" y="1463590"/>
              <a:ext cx="35231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000" dirty="0"/>
                <a:t>Código Executado</a:t>
              </a:r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05E62A7A-0369-83AC-B05C-BB0846E2FF1A}"/>
              </a:ext>
            </a:extLst>
          </p:cNvPr>
          <p:cNvGrpSpPr/>
          <p:nvPr/>
        </p:nvGrpSpPr>
        <p:grpSpPr>
          <a:xfrm>
            <a:off x="6828088" y="3617258"/>
            <a:ext cx="4368823" cy="1923662"/>
            <a:chOff x="6828088" y="3617258"/>
            <a:chExt cx="4368823" cy="1923662"/>
          </a:xfrm>
        </p:grpSpPr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704BBA5D-5071-9BE8-3C76-ECF0075E5DC6}"/>
                </a:ext>
              </a:extLst>
            </p:cNvPr>
            <p:cNvSpPr txBox="1"/>
            <p:nvPr/>
          </p:nvSpPr>
          <p:spPr>
            <a:xfrm>
              <a:off x="7250936" y="3617258"/>
              <a:ext cx="35231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000" dirty="0"/>
                <a:t>Resultado</a:t>
              </a:r>
            </a:p>
          </p:txBody>
        </p: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8D2B2CB6-524C-DD20-1498-19F4015EF9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28088" y="4011832"/>
              <a:ext cx="4368823" cy="15290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7922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F35B0-523F-2C81-0DF6-83CB6AEEC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320EB3E5-FEF8-C5D7-C0E7-91F145B73B97}"/>
              </a:ext>
            </a:extLst>
          </p:cNvPr>
          <p:cNvGrpSpPr/>
          <p:nvPr/>
        </p:nvGrpSpPr>
        <p:grpSpPr>
          <a:xfrm>
            <a:off x="990600" y="174812"/>
            <a:ext cx="10210800" cy="1092607"/>
            <a:chOff x="990600" y="174812"/>
            <a:chExt cx="10210800" cy="1092607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ECE97837-08D2-92BB-3C30-73D4CED0DD61}"/>
                </a:ext>
              </a:extLst>
            </p:cNvPr>
            <p:cNvSpPr txBox="1"/>
            <p:nvPr/>
          </p:nvSpPr>
          <p:spPr>
            <a:xfrm>
              <a:off x="990600" y="174812"/>
              <a:ext cx="10210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800" dirty="0"/>
                <a:t>Comandos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AD4389E2-7046-798F-972F-4415C6FB8EE2}"/>
                </a:ext>
              </a:extLst>
            </p:cNvPr>
            <p:cNvSpPr txBox="1"/>
            <p:nvPr/>
          </p:nvSpPr>
          <p:spPr>
            <a:xfrm>
              <a:off x="3711388" y="744199"/>
              <a:ext cx="47692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800" dirty="0"/>
                <a:t>Data Types e Restrições</a:t>
              </a:r>
            </a:p>
          </p:txBody>
        </p:sp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EC09B7B5-2303-A8FB-5B65-88E341E6F598}"/>
              </a:ext>
            </a:extLst>
          </p:cNvPr>
          <p:cNvSpPr txBox="1"/>
          <p:nvPr/>
        </p:nvSpPr>
        <p:spPr>
          <a:xfrm>
            <a:off x="990600" y="2459504"/>
            <a:ext cx="44610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dirty="0"/>
              <a:t>Os Data Types em SQL são: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dirty="0"/>
              <a:t>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dirty="0"/>
              <a:t>CHAR(</a:t>
            </a:r>
            <a:r>
              <a:rPr lang="pt-PT" sz="2400" i="1" dirty="0"/>
              <a:t>TAMANHO TEXTO</a:t>
            </a:r>
            <a:r>
              <a:rPr lang="pt-PT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dirty="0"/>
              <a:t>VARCHAR(</a:t>
            </a:r>
            <a:r>
              <a:rPr lang="pt-PT" sz="2400" i="1" dirty="0"/>
              <a:t>Nº CARATÉRES</a:t>
            </a:r>
            <a:r>
              <a:rPr lang="pt-PT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dirty="0"/>
              <a:t>DATE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dirty="0"/>
              <a:t>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dirty="0"/>
              <a:t>FLOAT(</a:t>
            </a:r>
            <a:r>
              <a:rPr lang="pt-PT" sz="2400" i="1" dirty="0"/>
              <a:t>PRECISÃO</a:t>
            </a:r>
            <a:r>
              <a:rPr lang="pt-PT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dirty="0"/>
              <a:t>BOOLEAN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FE8AB2D-8943-1EF0-4E5F-62F33103E159}"/>
              </a:ext>
            </a:extLst>
          </p:cNvPr>
          <p:cNvSpPr txBox="1"/>
          <p:nvPr/>
        </p:nvSpPr>
        <p:spPr>
          <a:xfrm>
            <a:off x="6096000" y="2090172"/>
            <a:ext cx="588532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dirty="0"/>
              <a:t>As restrições em SQL são: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dirty="0"/>
              <a:t>NOT NULL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dirty="0"/>
              <a:t>UNIQUE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dirty="0"/>
              <a:t>PRIMARY KEY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dirty="0"/>
              <a:t>FOREIGN KEY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dirty="0"/>
              <a:t>AUTO_INCREMENT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dirty="0"/>
              <a:t>DEFAULT (Vai ser explicado depois)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dirty="0"/>
              <a:t>CREATE INDEX (Vai ser explicado depois)</a:t>
            </a:r>
          </a:p>
        </p:txBody>
      </p:sp>
    </p:spTree>
    <p:extLst>
      <p:ext uri="{BB962C8B-B14F-4D97-AF65-F5344CB8AC3E}">
        <p14:creationId xmlns:p14="http://schemas.microsoft.com/office/powerpoint/2010/main" val="3516643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D924AFE3-3645-59D7-D3D7-6D84071E0A52}"/>
              </a:ext>
            </a:extLst>
          </p:cNvPr>
          <p:cNvGrpSpPr/>
          <p:nvPr/>
        </p:nvGrpSpPr>
        <p:grpSpPr>
          <a:xfrm>
            <a:off x="990600" y="174812"/>
            <a:ext cx="10210800" cy="1106054"/>
            <a:chOff x="990600" y="174812"/>
            <a:chExt cx="10210800" cy="1106054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ACAF412A-D7B9-FEE1-5850-B309E7C121DD}"/>
                </a:ext>
              </a:extLst>
            </p:cNvPr>
            <p:cNvSpPr txBox="1"/>
            <p:nvPr/>
          </p:nvSpPr>
          <p:spPr>
            <a:xfrm>
              <a:off x="990600" y="174812"/>
              <a:ext cx="10210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800" dirty="0"/>
                <a:t>Comandos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F9FD586B-EEE6-F685-ABC3-BEA898D945BD}"/>
                </a:ext>
              </a:extLst>
            </p:cNvPr>
            <p:cNvSpPr txBox="1"/>
            <p:nvPr/>
          </p:nvSpPr>
          <p:spPr>
            <a:xfrm>
              <a:off x="4334435" y="757646"/>
              <a:ext cx="35231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800" dirty="0"/>
                <a:t>CREATE</a:t>
              </a:r>
            </a:p>
          </p:txBody>
        </p:sp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A88D306F-75BE-7849-B2F5-EF81A04821CA}"/>
              </a:ext>
            </a:extLst>
          </p:cNvPr>
          <p:cNvSpPr txBox="1"/>
          <p:nvPr/>
        </p:nvSpPr>
        <p:spPr>
          <a:xfrm>
            <a:off x="203486" y="1485365"/>
            <a:ext cx="551151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/>
              <a:t>O comando CREATE em criação de tabelas é diferente de como é usado na criação de BD.</a:t>
            </a:r>
          </a:p>
          <a:p>
            <a:endParaRPr lang="pt-PT" sz="2000" dirty="0"/>
          </a:p>
          <a:p>
            <a:r>
              <a:rPr lang="pt-PT" sz="2000" dirty="0"/>
              <a:t>Sintaxe:</a:t>
            </a:r>
          </a:p>
          <a:p>
            <a:r>
              <a:rPr lang="pt-PT" sz="2000" dirty="0"/>
              <a:t>CREATE TABLE</a:t>
            </a:r>
            <a:r>
              <a:rPr lang="pt-PT" sz="2000" i="1" dirty="0"/>
              <a:t> NOME (</a:t>
            </a:r>
          </a:p>
          <a:p>
            <a:r>
              <a:rPr lang="pt-PT" sz="2000" i="1" dirty="0"/>
              <a:t>    ATRIBUTO DATA_TYPE RESTRIÇÕES,</a:t>
            </a:r>
          </a:p>
          <a:p>
            <a:r>
              <a:rPr lang="pt-PT" sz="2000" i="1" dirty="0"/>
              <a:t>    …;</a:t>
            </a:r>
          </a:p>
          <a:p>
            <a:r>
              <a:rPr lang="pt-PT" sz="2000" i="1" dirty="0"/>
              <a:t>);</a:t>
            </a:r>
          </a:p>
          <a:p>
            <a:endParaRPr lang="pt-PT" sz="2000" i="1" dirty="0"/>
          </a:p>
          <a:p>
            <a:r>
              <a:rPr lang="pt-PT" sz="2000" dirty="0"/>
              <a:t>Exemplo:</a:t>
            </a:r>
          </a:p>
          <a:p>
            <a:r>
              <a:rPr lang="pt-PT" dirty="0"/>
              <a:t>CREATE TABLE Paciente (</a:t>
            </a:r>
          </a:p>
          <a:p>
            <a:r>
              <a:rPr lang="pt-PT" dirty="0"/>
              <a:t>    Cod_Paciente INT AUTO_INCREMENT PRIMARY KEY,</a:t>
            </a:r>
          </a:p>
          <a:p>
            <a:r>
              <a:rPr lang="pt-PT" dirty="0"/>
              <a:t>    Nome VARCHAR(50),</a:t>
            </a:r>
          </a:p>
          <a:p>
            <a:r>
              <a:rPr lang="pt-PT" dirty="0"/>
              <a:t>    Endereco VARCHAR(100),</a:t>
            </a:r>
          </a:p>
          <a:p>
            <a:r>
              <a:rPr lang="pt-PT" dirty="0"/>
              <a:t>    Telefone VARCHAR(9)</a:t>
            </a:r>
          </a:p>
          <a:p>
            <a:r>
              <a:rPr lang="pt-PT" dirty="0"/>
              <a:t>);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094ACAE-FF5B-4555-0D38-5DEDCD133A4B}"/>
              </a:ext>
            </a:extLst>
          </p:cNvPr>
          <p:cNvSpPr txBox="1"/>
          <p:nvPr/>
        </p:nvSpPr>
        <p:spPr>
          <a:xfrm>
            <a:off x="7250934" y="1097170"/>
            <a:ext cx="3523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dirty="0"/>
              <a:t>Código Executado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FFF8B3B-C87E-3F55-6193-7B87A0C18910}"/>
              </a:ext>
            </a:extLst>
          </p:cNvPr>
          <p:cNvSpPr txBox="1"/>
          <p:nvPr/>
        </p:nvSpPr>
        <p:spPr>
          <a:xfrm>
            <a:off x="7255425" y="4176692"/>
            <a:ext cx="3523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dirty="0"/>
              <a:t>Resultado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AE191ABB-6396-0CB2-70D3-D75E2985A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577" y="1485365"/>
            <a:ext cx="4368823" cy="2582953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0F45B8B1-A6BE-02E5-3053-88E06923A5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606" y="4566476"/>
            <a:ext cx="6295784" cy="21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104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A905B-ED3F-B3E5-F4CE-97879C699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4F929BE3-114E-BD08-6AA1-38BDC4D3C9A8}"/>
              </a:ext>
            </a:extLst>
          </p:cNvPr>
          <p:cNvGrpSpPr/>
          <p:nvPr/>
        </p:nvGrpSpPr>
        <p:grpSpPr>
          <a:xfrm>
            <a:off x="990600" y="174812"/>
            <a:ext cx="10210800" cy="1106054"/>
            <a:chOff x="990600" y="174812"/>
            <a:chExt cx="10210800" cy="1106054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CC30C07D-39A5-211D-2A8B-62A3713FC6A9}"/>
                </a:ext>
              </a:extLst>
            </p:cNvPr>
            <p:cNvSpPr txBox="1"/>
            <p:nvPr/>
          </p:nvSpPr>
          <p:spPr>
            <a:xfrm>
              <a:off x="990600" y="174812"/>
              <a:ext cx="10210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800" dirty="0"/>
                <a:t>Comandos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218E47AB-99B5-72C9-085D-3DE7F3E93243}"/>
                </a:ext>
              </a:extLst>
            </p:cNvPr>
            <p:cNvSpPr txBox="1"/>
            <p:nvPr/>
          </p:nvSpPr>
          <p:spPr>
            <a:xfrm>
              <a:off x="4334435" y="757646"/>
              <a:ext cx="35231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800" dirty="0"/>
                <a:t>DROP</a:t>
              </a:r>
            </a:p>
          </p:txBody>
        </p:sp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C57D6C3A-DC31-C20C-383F-20E342343CB2}"/>
              </a:ext>
            </a:extLst>
          </p:cNvPr>
          <p:cNvSpPr txBox="1"/>
          <p:nvPr/>
        </p:nvSpPr>
        <p:spPr>
          <a:xfrm>
            <a:off x="990600" y="1416655"/>
            <a:ext cx="415514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/>
              <a:t>O comando DROP serve para apagar estruturas como a BD e tabelas, a sintaxe não muda no caso de ser uma tabela a ser apagada, pois não é preciso declarar os atributos.</a:t>
            </a:r>
          </a:p>
          <a:p>
            <a:endParaRPr lang="pt-PT" sz="2000" dirty="0"/>
          </a:p>
          <a:p>
            <a:r>
              <a:rPr lang="pt-PT" sz="2000" dirty="0"/>
              <a:t>Sintaxe:</a:t>
            </a:r>
          </a:p>
          <a:p>
            <a:r>
              <a:rPr lang="pt-PT" sz="2000" dirty="0"/>
              <a:t>DROP </a:t>
            </a:r>
            <a:r>
              <a:rPr lang="pt-PT" sz="2000" i="1" dirty="0"/>
              <a:t>TIPO NOME</a:t>
            </a:r>
            <a:r>
              <a:rPr lang="pt-PT" sz="2000" dirty="0"/>
              <a:t>;</a:t>
            </a:r>
            <a:endParaRPr lang="pt-PT" sz="2000" i="1" dirty="0"/>
          </a:p>
          <a:p>
            <a:endParaRPr lang="pt-PT" sz="2000" i="1" dirty="0"/>
          </a:p>
          <a:p>
            <a:r>
              <a:rPr lang="pt-PT" sz="2000" dirty="0"/>
              <a:t>Exemplo:</a:t>
            </a:r>
          </a:p>
          <a:p>
            <a:r>
              <a:rPr lang="pt-PT" sz="2000" dirty="0"/>
              <a:t>DROP DATABASE Hospital;</a:t>
            </a:r>
          </a:p>
          <a:p>
            <a:r>
              <a:rPr lang="pt-PT" sz="2000" dirty="0"/>
              <a:t>OU</a:t>
            </a:r>
          </a:p>
          <a:p>
            <a:r>
              <a:rPr lang="pt-PT" sz="2000" dirty="0"/>
              <a:t>DROP TABLE Paciente;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9D9D59EC-6694-CBE7-39BA-A522AA304057}"/>
              </a:ext>
            </a:extLst>
          </p:cNvPr>
          <p:cNvGrpSpPr/>
          <p:nvPr/>
        </p:nvGrpSpPr>
        <p:grpSpPr>
          <a:xfrm>
            <a:off x="6828088" y="1463589"/>
            <a:ext cx="4368823" cy="1634166"/>
            <a:chOff x="6828088" y="1463589"/>
            <a:chExt cx="4368823" cy="1634166"/>
          </a:xfrm>
        </p:grpSpPr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8C499E4-D189-CA55-9C71-BE93B1126EB0}"/>
                </a:ext>
              </a:extLst>
            </p:cNvPr>
            <p:cNvSpPr txBox="1"/>
            <p:nvPr/>
          </p:nvSpPr>
          <p:spPr>
            <a:xfrm>
              <a:off x="7250936" y="1463589"/>
              <a:ext cx="35231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000" dirty="0"/>
                <a:t>Código Executado</a:t>
              </a:r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069CF73C-39D0-8BD1-E983-307F900BC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28088" y="1919886"/>
              <a:ext cx="4368823" cy="1177869"/>
            </a:xfrm>
            <a:prstGeom prst="rect">
              <a:avLst/>
            </a:prstGeom>
          </p:spPr>
        </p:pic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C68B71F0-82C1-4E64-03B3-47828370680B}"/>
              </a:ext>
            </a:extLst>
          </p:cNvPr>
          <p:cNvGrpSpPr/>
          <p:nvPr/>
        </p:nvGrpSpPr>
        <p:grpSpPr>
          <a:xfrm>
            <a:off x="6858481" y="3617258"/>
            <a:ext cx="4308036" cy="1923661"/>
            <a:chOff x="6858481" y="3617258"/>
            <a:chExt cx="4308036" cy="1923661"/>
          </a:xfrm>
        </p:grpSpPr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FFB2A85F-05D8-7FDB-8E78-8D40EADF39A0}"/>
                </a:ext>
              </a:extLst>
            </p:cNvPr>
            <p:cNvSpPr txBox="1"/>
            <p:nvPr/>
          </p:nvSpPr>
          <p:spPr>
            <a:xfrm>
              <a:off x="7250936" y="3617258"/>
              <a:ext cx="35231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000" dirty="0"/>
                <a:t>Resultado</a:t>
              </a:r>
            </a:p>
          </p:txBody>
        </p:sp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8D242CAE-2662-74D6-A043-403C3F44F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481" y="4011832"/>
              <a:ext cx="4308036" cy="15290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05494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376F4-3D1E-F581-6509-82E162B08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7623CEB3-46E1-10F7-1B6B-4E186F427AA7}"/>
              </a:ext>
            </a:extLst>
          </p:cNvPr>
          <p:cNvGrpSpPr/>
          <p:nvPr/>
        </p:nvGrpSpPr>
        <p:grpSpPr>
          <a:xfrm>
            <a:off x="990600" y="174812"/>
            <a:ext cx="10210800" cy="1106054"/>
            <a:chOff x="990600" y="174812"/>
            <a:chExt cx="10210800" cy="1106054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6EC9A9EB-8121-389B-FDE0-08C9AE46932A}"/>
                </a:ext>
              </a:extLst>
            </p:cNvPr>
            <p:cNvSpPr txBox="1"/>
            <p:nvPr/>
          </p:nvSpPr>
          <p:spPr>
            <a:xfrm>
              <a:off x="990600" y="174812"/>
              <a:ext cx="10210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800" dirty="0"/>
                <a:t>Comandos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88525410-A071-69EC-0FBD-C110F5B98050}"/>
                </a:ext>
              </a:extLst>
            </p:cNvPr>
            <p:cNvSpPr txBox="1"/>
            <p:nvPr/>
          </p:nvSpPr>
          <p:spPr>
            <a:xfrm>
              <a:off x="4334435" y="757646"/>
              <a:ext cx="35231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800" dirty="0"/>
                <a:t>INSERT INTO</a:t>
              </a:r>
            </a:p>
          </p:txBody>
        </p:sp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DED60FCD-6F90-3DA6-7D3D-2A7D9EFD7F47}"/>
              </a:ext>
            </a:extLst>
          </p:cNvPr>
          <p:cNvSpPr txBox="1"/>
          <p:nvPr/>
        </p:nvSpPr>
        <p:spPr>
          <a:xfrm>
            <a:off x="80683" y="1570544"/>
            <a:ext cx="68580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/>
              <a:t>O comando INSERT INTO serve para inserir dados numa tabela.</a:t>
            </a:r>
          </a:p>
          <a:p>
            <a:endParaRPr lang="pt-PT" sz="2000" dirty="0"/>
          </a:p>
          <a:p>
            <a:r>
              <a:rPr lang="pt-PT" sz="2000" dirty="0"/>
              <a:t>Sintaxe:</a:t>
            </a:r>
          </a:p>
          <a:p>
            <a:r>
              <a:rPr lang="pt-PT" sz="2000" dirty="0"/>
              <a:t>INSERT INTO </a:t>
            </a:r>
            <a:r>
              <a:rPr lang="pt-PT" sz="2000" i="1" dirty="0"/>
              <a:t>TABELA</a:t>
            </a:r>
          </a:p>
          <a:p>
            <a:r>
              <a:rPr lang="pt-PT" sz="2000" dirty="0"/>
              <a:t>VALUES</a:t>
            </a:r>
            <a:br>
              <a:rPr lang="pt-PT" sz="2000" dirty="0"/>
            </a:br>
            <a:r>
              <a:rPr lang="pt-PT" sz="2000" dirty="0"/>
              <a:t>(</a:t>
            </a:r>
            <a:r>
              <a:rPr lang="pt-PT" sz="2000" i="1" dirty="0"/>
              <a:t>ATTRIBUTO_1</a:t>
            </a:r>
            <a:r>
              <a:rPr lang="pt-PT" sz="2000" dirty="0"/>
              <a:t>, ...), (Se houver vários registros para adicionar)</a:t>
            </a:r>
          </a:p>
          <a:p>
            <a:r>
              <a:rPr lang="pt-PT" sz="2000" dirty="0"/>
              <a:t>(…); (Usar isto quando for o ultimo registro)</a:t>
            </a:r>
          </a:p>
          <a:p>
            <a:endParaRPr lang="pt-PT" sz="2000" i="1" dirty="0"/>
          </a:p>
          <a:p>
            <a:r>
              <a:rPr lang="pt-PT" sz="2000" dirty="0"/>
              <a:t>Exemplo:</a:t>
            </a:r>
          </a:p>
          <a:p>
            <a:r>
              <a:rPr lang="pt-PT" sz="2000" dirty="0"/>
              <a:t>INSERT INTO Paciente</a:t>
            </a:r>
            <a:br>
              <a:rPr lang="pt-PT" sz="2000" dirty="0"/>
            </a:br>
            <a:r>
              <a:rPr lang="pt-PT" sz="2000" dirty="0"/>
              <a:t>VALUES</a:t>
            </a:r>
          </a:p>
          <a:p>
            <a:r>
              <a:rPr lang="pt-PT" sz="2000" dirty="0"/>
              <a:t>(NULL, "Joana Mendonça", "Rua da Alegria 15", "923864472");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DDD98554-F41F-B071-D0D6-67D750A95E93}"/>
              </a:ext>
            </a:extLst>
          </p:cNvPr>
          <p:cNvGrpSpPr/>
          <p:nvPr/>
        </p:nvGrpSpPr>
        <p:grpSpPr>
          <a:xfrm>
            <a:off x="7463152" y="1674845"/>
            <a:ext cx="4333875" cy="1754155"/>
            <a:chOff x="7537356" y="1401889"/>
            <a:chExt cx="4333875" cy="1754155"/>
          </a:xfrm>
        </p:grpSpPr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C534FD85-34CA-82FA-CF0E-B34D12EB1CB9}"/>
                </a:ext>
              </a:extLst>
            </p:cNvPr>
            <p:cNvSpPr txBox="1"/>
            <p:nvPr/>
          </p:nvSpPr>
          <p:spPr>
            <a:xfrm>
              <a:off x="7942731" y="1401889"/>
              <a:ext cx="35231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000" dirty="0"/>
                <a:t>Código Executado</a:t>
              </a:r>
            </a:p>
          </p:txBody>
        </p:sp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C346395E-E2B9-894F-859F-02410305D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37356" y="1774919"/>
              <a:ext cx="4333875" cy="1381125"/>
            </a:xfrm>
            <a:prstGeom prst="rect">
              <a:avLst/>
            </a:prstGeom>
          </p:spPr>
        </p:pic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0922C2E9-59E4-F8F7-B4E2-B3017BE88C33}"/>
              </a:ext>
            </a:extLst>
          </p:cNvPr>
          <p:cNvGrpSpPr/>
          <p:nvPr/>
        </p:nvGrpSpPr>
        <p:grpSpPr>
          <a:xfrm>
            <a:off x="7148864" y="3802029"/>
            <a:ext cx="4962453" cy="1489637"/>
            <a:chOff x="7223066" y="3555558"/>
            <a:chExt cx="4962453" cy="1489637"/>
          </a:xfrm>
        </p:grpSpPr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3FB66BA8-8BE0-4F5E-C21F-E0FE248202C5}"/>
                </a:ext>
              </a:extLst>
            </p:cNvPr>
            <p:cNvSpPr txBox="1"/>
            <p:nvPr/>
          </p:nvSpPr>
          <p:spPr>
            <a:xfrm>
              <a:off x="7942731" y="3555558"/>
              <a:ext cx="35231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000" dirty="0"/>
                <a:t>Resultado</a:t>
              </a:r>
            </a:p>
          </p:txBody>
        </p:sp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C8B21C0A-D939-03C0-9D73-943EFC991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23066" y="3955668"/>
              <a:ext cx="4962453" cy="10895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56530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6A902-7B7C-CFDB-827C-95FC7669E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4C485E1D-B7D1-F4D2-C3FB-B1B2A35FD4CF}"/>
              </a:ext>
            </a:extLst>
          </p:cNvPr>
          <p:cNvGrpSpPr/>
          <p:nvPr/>
        </p:nvGrpSpPr>
        <p:grpSpPr>
          <a:xfrm>
            <a:off x="990600" y="174812"/>
            <a:ext cx="10210800" cy="1106054"/>
            <a:chOff x="990600" y="174812"/>
            <a:chExt cx="10210800" cy="1106054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A2D333F3-547D-5C3F-9C29-E5DBBB81DB00}"/>
                </a:ext>
              </a:extLst>
            </p:cNvPr>
            <p:cNvSpPr txBox="1"/>
            <p:nvPr/>
          </p:nvSpPr>
          <p:spPr>
            <a:xfrm>
              <a:off x="990600" y="174812"/>
              <a:ext cx="10210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800" dirty="0"/>
                <a:t>Comandos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3096BD67-8FEE-CF5C-0A2E-64E70C951709}"/>
                </a:ext>
              </a:extLst>
            </p:cNvPr>
            <p:cNvSpPr txBox="1"/>
            <p:nvPr/>
          </p:nvSpPr>
          <p:spPr>
            <a:xfrm>
              <a:off x="4334435" y="757646"/>
              <a:ext cx="35231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800" dirty="0"/>
                <a:t>ALTER TABLE</a:t>
              </a:r>
            </a:p>
          </p:txBody>
        </p:sp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B80D0293-1C1B-72AB-A8AD-F881BB1726CA}"/>
              </a:ext>
            </a:extLst>
          </p:cNvPr>
          <p:cNvSpPr txBox="1"/>
          <p:nvPr/>
        </p:nvSpPr>
        <p:spPr>
          <a:xfrm>
            <a:off x="205693" y="1863699"/>
            <a:ext cx="62603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/>
              <a:t>O comando ALTER TABLE serve para alterar tabelas já existentes na base de dados.</a:t>
            </a:r>
          </a:p>
          <a:p>
            <a:endParaRPr lang="pt-PT" sz="2000" dirty="0"/>
          </a:p>
          <a:p>
            <a:r>
              <a:rPr lang="pt-PT" sz="2000" dirty="0"/>
              <a:t>Sintaxe:</a:t>
            </a:r>
          </a:p>
          <a:p>
            <a:r>
              <a:rPr lang="pt-PT" sz="2000" dirty="0"/>
              <a:t>ALTER TABLE </a:t>
            </a:r>
            <a:r>
              <a:rPr lang="pt-PT" sz="2000" i="1" dirty="0"/>
              <a:t>NOME</a:t>
            </a:r>
          </a:p>
          <a:p>
            <a:r>
              <a:rPr lang="pt-PT" sz="2000" i="1" dirty="0"/>
              <a:t>COMANDO NOME_ATRIBUTO DATA_TYPE RESTRIÇÕES;</a:t>
            </a:r>
          </a:p>
          <a:p>
            <a:endParaRPr lang="pt-PT" sz="2000" i="1" dirty="0"/>
          </a:p>
          <a:p>
            <a:r>
              <a:rPr lang="pt-PT" sz="2000" dirty="0"/>
              <a:t>Exemplo:</a:t>
            </a:r>
          </a:p>
          <a:p>
            <a:r>
              <a:rPr lang="pt-PT" sz="2000" dirty="0"/>
              <a:t>ALTER TABLE Paciente</a:t>
            </a:r>
          </a:p>
          <a:p>
            <a:r>
              <a:rPr lang="pt-PT" sz="2000" dirty="0"/>
              <a:t>DROP COLUMN Telefone,</a:t>
            </a:r>
          </a:p>
          <a:p>
            <a:r>
              <a:rPr lang="pt-PT" sz="2000" dirty="0"/>
              <a:t>ADD COLUMN </a:t>
            </a:r>
            <a:r>
              <a:rPr lang="pt-PT" sz="2000" dirty="0" err="1"/>
              <a:t>Data_Nasc</a:t>
            </a:r>
            <a:r>
              <a:rPr lang="pt-PT" sz="2000" dirty="0"/>
              <a:t> YEAR,</a:t>
            </a:r>
          </a:p>
          <a:p>
            <a:r>
              <a:rPr lang="pt-PT" sz="2000" dirty="0"/>
              <a:t>MODIFY COLUMN Nome VARCHAR(100);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621560A4-F81B-F55A-6C2A-12D757936A92}"/>
              </a:ext>
            </a:extLst>
          </p:cNvPr>
          <p:cNvGrpSpPr/>
          <p:nvPr/>
        </p:nvGrpSpPr>
        <p:grpSpPr>
          <a:xfrm>
            <a:off x="7055684" y="1441748"/>
            <a:ext cx="3913630" cy="2153894"/>
            <a:chOff x="7055684" y="1463589"/>
            <a:chExt cx="3913630" cy="2153894"/>
          </a:xfrm>
        </p:grpSpPr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26DFBAB2-C1FB-24C1-9C96-F9214C67AF05}"/>
                </a:ext>
              </a:extLst>
            </p:cNvPr>
            <p:cNvSpPr txBox="1"/>
            <p:nvPr/>
          </p:nvSpPr>
          <p:spPr>
            <a:xfrm>
              <a:off x="7250936" y="1463589"/>
              <a:ext cx="35231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000" dirty="0"/>
                <a:t>Código Executado</a:t>
              </a:r>
            </a:p>
          </p:txBody>
        </p:sp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D3C3B604-7A10-32D1-05EF-5D4CD2CC9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55684" y="1863475"/>
              <a:ext cx="3913630" cy="1754008"/>
            </a:xfrm>
            <a:prstGeom prst="rect">
              <a:avLst/>
            </a:prstGeom>
          </p:spPr>
        </p:pic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B00921AC-B9DC-51AF-CBB8-33E036942BA7}"/>
              </a:ext>
            </a:extLst>
          </p:cNvPr>
          <p:cNvGrpSpPr/>
          <p:nvPr/>
        </p:nvGrpSpPr>
        <p:grpSpPr>
          <a:xfrm>
            <a:off x="6252360" y="3756525"/>
            <a:ext cx="5520278" cy="2086862"/>
            <a:chOff x="6250876" y="3617258"/>
            <a:chExt cx="5520278" cy="2086862"/>
          </a:xfrm>
        </p:grpSpPr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A1035CEB-C989-8008-4B94-3E2652EDD07C}"/>
                </a:ext>
              </a:extLst>
            </p:cNvPr>
            <p:cNvSpPr txBox="1"/>
            <p:nvPr/>
          </p:nvSpPr>
          <p:spPr>
            <a:xfrm>
              <a:off x="7250936" y="3617258"/>
              <a:ext cx="35231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000" dirty="0"/>
                <a:t>Resultado</a:t>
              </a:r>
            </a:p>
          </p:txBody>
        </p:sp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63851C17-A041-1B65-9778-25AA02B18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0876" y="4017368"/>
              <a:ext cx="5520278" cy="16867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81462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7E280-DB79-28CA-FD19-510C3D3B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A7F08713-8592-DE33-C7C0-1D14307676B7}"/>
              </a:ext>
            </a:extLst>
          </p:cNvPr>
          <p:cNvGrpSpPr/>
          <p:nvPr/>
        </p:nvGrpSpPr>
        <p:grpSpPr>
          <a:xfrm>
            <a:off x="990600" y="174812"/>
            <a:ext cx="10210800" cy="1106054"/>
            <a:chOff x="990600" y="174812"/>
            <a:chExt cx="10210800" cy="1106054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E7EAB426-46D4-DDCB-13C5-DE3D06F37AD2}"/>
                </a:ext>
              </a:extLst>
            </p:cNvPr>
            <p:cNvSpPr txBox="1"/>
            <p:nvPr/>
          </p:nvSpPr>
          <p:spPr>
            <a:xfrm>
              <a:off x="990600" y="174812"/>
              <a:ext cx="10210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800" dirty="0"/>
                <a:t>Comandos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5B5DB963-9282-3221-4B70-3165E50DA00F}"/>
                </a:ext>
              </a:extLst>
            </p:cNvPr>
            <p:cNvSpPr txBox="1"/>
            <p:nvPr/>
          </p:nvSpPr>
          <p:spPr>
            <a:xfrm>
              <a:off x="4334435" y="757646"/>
              <a:ext cx="35231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800" dirty="0"/>
                <a:t>Data Type - DEFAULT</a:t>
              </a:r>
            </a:p>
          </p:txBody>
        </p:sp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F1D87511-903B-7A7E-CA61-4B05E4D56DBE}"/>
              </a:ext>
            </a:extLst>
          </p:cNvPr>
          <p:cNvSpPr txBox="1"/>
          <p:nvPr/>
        </p:nvSpPr>
        <p:spPr>
          <a:xfrm>
            <a:off x="681318" y="1878320"/>
            <a:ext cx="51054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/>
              <a:t>O Data Type DEFAULT serve para dar um valor a um campo logo quando é criado um registro, por exemplo, todos os alunos começam sem curso selecionado, o valor DEFAULT é “Sem Curso” até ser mudado.</a:t>
            </a:r>
          </a:p>
          <a:p>
            <a:endParaRPr lang="pt-PT" sz="2000" dirty="0"/>
          </a:p>
          <a:p>
            <a:r>
              <a:rPr lang="pt-PT" sz="2000" dirty="0"/>
              <a:t>Sintaxe:</a:t>
            </a:r>
          </a:p>
          <a:p>
            <a:r>
              <a:rPr lang="pt-PT" sz="2000" dirty="0"/>
              <a:t>DEFAULT </a:t>
            </a:r>
            <a:r>
              <a:rPr lang="pt-PT" sz="2000" i="1" dirty="0"/>
              <a:t>VALOR</a:t>
            </a:r>
            <a:endParaRPr lang="pt-PT" sz="2000" dirty="0"/>
          </a:p>
          <a:p>
            <a:endParaRPr lang="pt-PT" sz="2000" i="1" dirty="0"/>
          </a:p>
          <a:p>
            <a:r>
              <a:rPr lang="pt-PT" sz="2000" dirty="0"/>
              <a:t>Exemplo:</a:t>
            </a:r>
          </a:p>
          <a:p>
            <a:r>
              <a:rPr lang="pt-PT" sz="2000" dirty="0"/>
              <a:t>Nome VARCHAR(50) DEFAULT “John”</a:t>
            </a:r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294C5D74-855C-A800-2418-817F27E0B17B}"/>
              </a:ext>
            </a:extLst>
          </p:cNvPr>
          <p:cNvGrpSpPr/>
          <p:nvPr/>
        </p:nvGrpSpPr>
        <p:grpSpPr>
          <a:xfrm>
            <a:off x="6999487" y="1280866"/>
            <a:ext cx="4201912" cy="1981242"/>
            <a:chOff x="6911543" y="1463589"/>
            <a:chExt cx="4201912" cy="1981242"/>
          </a:xfrm>
        </p:grpSpPr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7B7F1E2-2FFB-6CA8-735F-AE05FF9E6F88}"/>
                </a:ext>
              </a:extLst>
            </p:cNvPr>
            <p:cNvSpPr txBox="1"/>
            <p:nvPr/>
          </p:nvSpPr>
          <p:spPr>
            <a:xfrm>
              <a:off x="7250936" y="1463589"/>
              <a:ext cx="35231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000" dirty="0"/>
                <a:t>Código Executado</a:t>
              </a:r>
            </a:p>
          </p:txBody>
        </p:sp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2BC4687E-74A6-4B16-CD03-C17B58F63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11543" y="1863699"/>
              <a:ext cx="4201912" cy="1581132"/>
            </a:xfrm>
            <a:prstGeom prst="rect">
              <a:avLst/>
            </a:prstGeom>
          </p:spPr>
        </p:pic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D74F6855-6035-620F-3EC5-9F5DDEA680B1}"/>
              </a:ext>
            </a:extLst>
          </p:cNvPr>
          <p:cNvGrpSpPr/>
          <p:nvPr/>
        </p:nvGrpSpPr>
        <p:grpSpPr>
          <a:xfrm>
            <a:off x="6410371" y="3434535"/>
            <a:ext cx="5380144" cy="2755761"/>
            <a:chOff x="6322427" y="3617258"/>
            <a:chExt cx="5380144" cy="2755761"/>
          </a:xfrm>
        </p:grpSpPr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3EB27AE5-46DB-E2A5-78F2-9ECA9C3BE2F3}"/>
                </a:ext>
              </a:extLst>
            </p:cNvPr>
            <p:cNvGrpSpPr/>
            <p:nvPr/>
          </p:nvGrpSpPr>
          <p:grpSpPr>
            <a:xfrm>
              <a:off x="6322427" y="3617258"/>
              <a:ext cx="5380144" cy="2047875"/>
              <a:chOff x="6322427" y="3617258"/>
              <a:chExt cx="5380144" cy="2047875"/>
            </a:xfrm>
          </p:grpSpPr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E3AD8A62-2448-1FE6-F8AC-A2B78F3F5D52}"/>
                  </a:ext>
                </a:extLst>
              </p:cNvPr>
              <p:cNvSpPr txBox="1"/>
              <p:nvPr/>
            </p:nvSpPr>
            <p:spPr>
              <a:xfrm>
                <a:off x="7250936" y="3617258"/>
                <a:ext cx="352312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2000" dirty="0"/>
                  <a:t>Resultado</a:t>
                </a:r>
              </a:p>
            </p:txBody>
          </p:sp>
          <p:pic>
            <p:nvPicPr>
              <p:cNvPr id="11" name="Imagem 10">
                <a:extLst>
                  <a:ext uri="{FF2B5EF4-FFF2-40B4-BE49-F238E27FC236}">
                    <a16:creationId xmlns:a16="http://schemas.microsoft.com/office/drawing/2014/main" id="{710A490D-E153-8A2E-5ECD-757E608B9A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22427" y="4017368"/>
                <a:ext cx="5380144" cy="1647765"/>
              </a:xfrm>
              <a:prstGeom prst="rect">
                <a:avLst/>
              </a:prstGeom>
            </p:spPr>
          </p:pic>
        </p:grp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72F50C00-F071-90B9-F6DE-BAC197EE9B6F}"/>
                </a:ext>
              </a:extLst>
            </p:cNvPr>
            <p:cNvSpPr txBox="1"/>
            <p:nvPr/>
          </p:nvSpPr>
          <p:spPr>
            <a:xfrm>
              <a:off x="6322427" y="5665133"/>
              <a:ext cx="538014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000" dirty="0"/>
                <a:t>Agora cada registro adicionado á tabela que não tenha nome vai ser John!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3047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6DAD3-A29D-4C19-5254-FC191DDAB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D985CDAA-AF6D-8564-8296-6FC74AD59870}"/>
              </a:ext>
            </a:extLst>
          </p:cNvPr>
          <p:cNvGrpSpPr/>
          <p:nvPr/>
        </p:nvGrpSpPr>
        <p:grpSpPr>
          <a:xfrm>
            <a:off x="990600" y="174812"/>
            <a:ext cx="10210800" cy="1106054"/>
            <a:chOff x="990600" y="174812"/>
            <a:chExt cx="10210800" cy="1106054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252546EF-68A3-065A-9FCB-66B34D812633}"/>
                </a:ext>
              </a:extLst>
            </p:cNvPr>
            <p:cNvSpPr txBox="1"/>
            <p:nvPr/>
          </p:nvSpPr>
          <p:spPr>
            <a:xfrm>
              <a:off x="990600" y="174812"/>
              <a:ext cx="10210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800" dirty="0"/>
                <a:t>Comandos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4BE8D06D-8F5A-4330-A4D2-71AFC7F6EF8A}"/>
                </a:ext>
              </a:extLst>
            </p:cNvPr>
            <p:cNvSpPr txBox="1"/>
            <p:nvPr/>
          </p:nvSpPr>
          <p:spPr>
            <a:xfrm>
              <a:off x="4334435" y="757646"/>
              <a:ext cx="35231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800" dirty="0"/>
                <a:t>Data Type - INDEX</a:t>
              </a:r>
            </a:p>
          </p:txBody>
        </p:sp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2FD1DDF2-C71D-586E-228A-A9A91230B50C}"/>
              </a:ext>
            </a:extLst>
          </p:cNvPr>
          <p:cNvSpPr txBox="1"/>
          <p:nvPr/>
        </p:nvSpPr>
        <p:spPr>
          <a:xfrm>
            <a:off x="366946" y="2049540"/>
            <a:ext cx="572905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/>
              <a:t>O Data Type INDEX serve para criar uma estrutura auxiliar para ajudar nas</a:t>
            </a:r>
            <a:r>
              <a:rPr lang="pt-PT" sz="2000" i="1" dirty="0"/>
              <a:t> </a:t>
            </a:r>
            <a:r>
              <a:rPr lang="pt-PT" sz="2000" dirty="0"/>
              <a:t>pesquisas á BD.</a:t>
            </a:r>
          </a:p>
          <a:p>
            <a:endParaRPr lang="pt-PT" sz="2000" dirty="0"/>
          </a:p>
          <a:p>
            <a:r>
              <a:rPr lang="pt-PT" sz="2000" dirty="0"/>
              <a:t>Sintaxe:</a:t>
            </a:r>
          </a:p>
          <a:p>
            <a:r>
              <a:rPr lang="pt-PT" sz="2000" dirty="0"/>
              <a:t>CREATE INDEX </a:t>
            </a:r>
            <a:r>
              <a:rPr lang="pt-PT" sz="2000" i="1" dirty="0"/>
              <a:t>NOME</a:t>
            </a:r>
            <a:r>
              <a:rPr lang="pt-PT" sz="2000" dirty="0"/>
              <a:t> ON </a:t>
            </a:r>
            <a:r>
              <a:rPr lang="pt-PT" sz="2000" i="1" dirty="0"/>
              <a:t>TABELA</a:t>
            </a:r>
            <a:endParaRPr lang="pt-PT" sz="2000" dirty="0"/>
          </a:p>
          <a:p>
            <a:r>
              <a:rPr lang="pt-PT" sz="2000" dirty="0"/>
              <a:t>(</a:t>
            </a:r>
            <a:r>
              <a:rPr lang="pt-PT" sz="2000" i="1" dirty="0"/>
              <a:t>ATRIBUTO</a:t>
            </a:r>
            <a:r>
              <a:rPr lang="pt-PT" sz="2000" dirty="0"/>
              <a:t>);</a:t>
            </a:r>
          </a:p>
          <a:p>
            <a:endParaRPr lang="pt-PT" sz="2000" i="1" dirty="0"/>
          </a:p>
          <a:p>
            <a:r>
              <a:rPr lang="pt-PT" sz="2000" dirty="0"/>
              <a:t>Exemplo:</a:t>
            </a:r>
          </a:p>
          <a:p>
            <a:r>
              <a:rPr lang="pt-PT" sz="2000" dirty="0"/>
              <a:t>CREATE INDEX index_nome_paciente ON Paciente</a:t>
            </a:r>
          </a:p>
          <a:p>
            <a:r>
              <a:rPr lang="pt-PT" sz="2000" dirty="0"/>
              <a:t>(Nome);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A653ED7-BF2F-C2DD-3158-C0C355059FC6}"/>
              </a:ext>
            </a:extLst>
          </p:cNvPr>
          <p:cNvSpPr txBox="1"/>
          <p:nvPr/>
        </p:nvSpPr>
        <p:spPr>
          <a:xfrm>
            <a:off x="7338880" y="1280866"/>
            <a:ext cx="3523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dirty="0"/>
              <a:t>Código Executado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88361B0-047C-5BD3-4D3B-37339A2F6B62}"/>
              </a:ext>
            </a:extLst>
          </p:cNvPr>
          <p:cNvSpPr txBox="1"/>
          <p:nvPr/>
        </p:nvSpPr>
        <p:spPr>
          <a:xfrm>
            <a:off x="7338880" y="3434535"/>
            <a:ext cx="3523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dirty="0"/>
              <a:t>Resultado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035E65A-2008-B633-061A-CE0BC6EF6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821" y="1683391"/>
            <a:ext cx="4053243" cy="142318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0A7D7F0-7416-7572-E8E7-D593A44D2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4581" y="3834645"/>
            <a:ext cx="4431722" cy="210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3351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510</Words>
  <Application>Microsoft Office PowerPoint</Application>
  <PresentationFormat>Ecrã Panorâmico</PresentationFormat>
  <Paragraphs>117</Paragraphs>
  <Slides>9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Afonso Almeida</dc:creator>
  <cp:lastModifiedBy>Afonso Almeida</cp:lastModifiedBy>
  <cp:revision>58</cp:revision>
  <dcterms:created xsi:type="dcterms:W3CDTF">2026-10-19T07:48:37Z</dcterms:created>
  <dcterms:modified xsi:type="dcterms:W3CDTF">2026-10-20T16:27:49Z</dcterms:modified>
</cp:coreProperties>
</file>